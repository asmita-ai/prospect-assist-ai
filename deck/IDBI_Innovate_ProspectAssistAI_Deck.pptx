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4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286000"/>
            <a:ext cx="6400800" cy="6400800"/>
          </a:xfrm>
          <a:prstGeom prst="ellipse">
            <a:avLst/>
          </a:prstGeom>
          <a:solidFill>
            <a:srgbClr val="0D5C4E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188720"/>
            <a:ext cx="4206240" cy="4206240"/>
          </a:xfrm>
          <a:prstGeom prst="ellipse">
            <a:avLst/>
          </a:prstGeom>
          <a:solidFill>
            <a:srgbClr val="E8732C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7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IDBI INNOVATE 2026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94360" y="96012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Prospect Assist AI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21792" y="187452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lead intelligence for retail lending — replacing self-reported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with behavior-verified repayment capacity and conversion-ready leads.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1792" y="3063240"/>
            <a:ext cx="3474720" cy="1234440"/>
          </a:xfrm>
          <a:prstGeom prst="roundRect">
            <a:avLst>
              <a:gd name="adj" fmla="val 888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322783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7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50392" y="352044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[Your Team Name]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4370832" y="3063240"/>
            <a:ext cx="3474720" cy="1234440"/>
          </a:xfrm>
          <a:prstGeom prst="roundRect">
            <a:avLst>
              <a:gd name="adj" fmla="val 888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9432" y="322783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7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LEADER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99432" y="352044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[Team Leader Name]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8119872" y="3063240"/>
            <a:ext cx="3474720" cy="1234440"/>
          </a:xfrm>
          <a:prstGeom prst="roundRect">
            <a:avLst>
              <a:gd name="adj" fmla="val 888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48472" y="322783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7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348472" y="352044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 2 — Prospect Assist AI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621792" y="6126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73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Build. Integrate. Transform.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1792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Partner: AWS   |   Powered by: H2S   |   Technology Partner: ACC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4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IDBI </a:t>
            </a:r>
            <a:pPr indent="0" marL="0">
              <a:buNone/>
            </a:pPr>
            <a:r>
              <a:rPr lang="en-US" sz="1500" b="1" dirty="0">
                <a:solidFill>
                  <a:srgbClr val="E873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Innovate 2026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7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4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Brief about the Idea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6492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A2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 Assist AI turns every customer's existing bank relationship into a live underwriting signal. Instead of scoring leads on declared income and demographic guesswork, it reads salary credit regularity, UPI spend patterns, savings growth, existing EMI load, and recent big-ticket behaviour (e.g. property or dealer-related transfers) to answer two questions banks actually need answered before they call a prospect: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3246120"/>
            <a:ext cx="6492240" cy="1051560"/>
          </a:xfrm>
          <a:prstGeom prst="roundRect">
            <a:avLst>
              <a:gd name="adj" fmla="val 8696"/>
            </a:avLst>
          </a:prstGeom>
          <a:solidFill>
            <a:srgbClr val="E4F1EC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3364992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4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they genuinely repay?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370332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behavior-verified income &amp; repayment-capacity estimate — not a self-reported number.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4480560"/>
            <a:ext cx="6492240" cy="1051560"/>
          </a:xfrm>
          <a:prstGeom prst="roundRect">
            <a:avLst>
              <a:gd name="adj" fmla="val 8696"/>
            </a:avLst>
          </a:prstGeom>
          <a:solidFill>
            <a:srgbClr val="E4F1EC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4599432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4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Are they actually interested — right now?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77240" y="493776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conversion-probability score built from real transaction intent signals, refreshed continuously.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452360" y="1417320"/>
            <a:ext cx="4206240" cy="4617720"/>
          </a:xfrm>
          <a:prstGeom prst="roundRect">
            <a:avLst>
              <a:gd name="adj" fmla="val 3043"/>
            </a:avLst>
          </a:prstGeom>
          <a:solidFill>
            <a:srgbClr val="0D4F44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0" y="16916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OUTCOME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0" y="19659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&gt;30%</a:t>
            </a:r>
            <a:endParaRPr lang="en-US" sz="5400" dirty="0"/>
          </a:p>
        </p:txBody>
      </p:sp>
      <p:sp>
        <p:nvSpPr>
          <p:cNvPr id="15" name="Text 13"/>
          <p:cNvSpPr/>
          <p:nvPr/>
        </p:nvSpPr>
        <p:spPr>
          <a:xfrm>
            <a:off x="7772400" y="27889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rate target set by IDBI Bank for generated leads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0" y="3474720"/>
            <a:ext cx="3291840" cy="0"/>
          </a:xfrm>
          <a:prstGeom prst="line">
            <a:avLst/>
          </a:prstGeom>
          <a:noFill/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0" y="361188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73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55.36%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7772400" y="42062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 by our prototype model on held-out synthetic data — nearly 2x the base conversion rate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772400" y="5029200"/>
            <a:ext cx="3291840" cy="0"/>
          </a:xfrm>
          <a:prstGeom prst="line">
            <a:avLst/>
          </a:prstGeom>
          <a:noFill/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0" y="516636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73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61.58%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7772400" y="57607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accurate income estimation than trusting self-declared income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IDBI Innovate 2026  |  Prospect Assist AI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515600" y="652881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4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IDBI </a:t>
            </a:r>
            <a:pPr indent="0" marL="0">
              <a:buNone/>
            </a:pPr>
            <a:r>
              <a:rPr lang="en-US" sz="1500" b="1" dirty="0">
                <a:solidFill>
                  <a:srgbClr val="E873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Innovate 2026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7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WINS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4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Opportunities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3566160" cy="45720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9050">
            <a:solidFill>
              <a:srgbClr val="E4F1EC"/>
            </a:solidFill>
            <a:prstDash val="solid"/>
          </a:ln>
          <a:effectLst>
            <a:outerShdw sx="100000" sy="100000" kx="0" ky="0" algn="bl" rotWithShape="0" blurRad="101600" dist="38100" dir="5400000">
              <a:srgbClr val="223229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783080"/>
            <a:ext cx="502920" cy="502920"/>
          </a:xfrm>
          <a:prstGeom prst="ellipse">
            <a:avLst/>
          </a:prstGeom>
          <a:solidFill>
            <a:srgbClr val="0D5C4E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24231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D4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is this different?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822960" y="3108960"/>
            <a:ext cx="30175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1A2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lead-scoring tools re-package CRM/demographic data or trust declared income. Prospect Assist AI is behavior-first: it derives repayment capacity and intent directly from transaction cash-flow, closing the gap between what a customer says and what their account actually shows.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43400" y="1508760"/>
            <a:ext cx="3566160" cy="45720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9050">
            <a:solidFill>
              <a:srgbClr val="E4F1EC"/>
            </a:solidFill>
            <a:prstDash val="solid"/>
          </a:ln>
          <a:effectLst>
            <a:outerShdw sx="100000" sy="100000" kx="0" ky="0" algn="bl" rotWithShape="0" blurRad="101600" dist="38100" dir="5400000">
              <a:srgbClr val="223229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1783080"/>
            <a:ext cx="502920" cy="502920"/>
          </a:xfrm>
          <a:prstGeom prst="ellipse">
            <a:avLst/>
          </a:prstGeom>
          <a:solidFill>
            <a:srgbClr val="0D5C4E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617720" y="24231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D4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does it solve the problem?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4617720" y="3108960"/>
            <a:ext cx="30175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1A2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replaces two weak, manual signals (declared income, generic demographics) with three model-driven ones — verified income, a calibrated conversion probability, and a product-fit recommendation — so RMs call the right customer, about the right product, with the right amount in mind.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138160" y="1508760"/>
            <a:ext cx="3566160" cy="45720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9050">
            <a:solidFill>
              <a:srgbClr val="E4F1EC"/>
            </a:solidFill>
            <a:prstDash val="solid"/>
          </a:ln>
          <a:effectLst>
            <a:outerShdw sx="100000" sy="100000" kx="0" ky="0" algn="bl" rotWithShape="0" blurRad="101600" dist="38100" dir="5400000">
              <a:srgbClr val="223229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12480" y="1783080"/>
            <a:ext cx="502920" cy="502920"/>
          </a:xfrm>
          <a:prstGeom prst="ellipse">
            <a:avLst/>
          </a:prstGeom>
          <a:solidFill>
            <a:srgbClr val="E8732C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412480" y="24231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D4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USP of the solution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8412480" y="3108960"/>
            <a:ext cx="30175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1A2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Explainable-by-design (SHAP-style contribution for every score, audit-ready for underwriting), tunable to the bank's own risk appetite via one threshold, and deployable directly on IDBI's sandbox APIs and synthetic datasets with no architecture change.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IDBI Innovate 2026  |  Prospect Assist AI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515600" y="652881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4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IDBI </a:t>
            </a:r>
            <a:pPr indent="0" marL="0">
              <a:buNone/>
            </a:pPr>
            <a:r>
              <a:rPr lang="en-US" sz="1500" b="1" dirty="0">
                <a:solidFill>
                  <a:srgbClr val="E873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Innovate 2026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7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4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 of Features Offered by the Solution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81328"/>
            <a:ext cx="539496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5875">
            <a:solidFill>
              <a:srgbClr val="E4F1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737360"/>
            <a:ext cx="384048" cy="384048"/>
          </a:xfrm>
          <a:prstGeom prst="ellipse">
            <a:avLst/>
          </a:prstGeom>
          <a:solidFill>
            <a:srgbClr val="E4F1EC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4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61872" y="16002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4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Behavior-Verified Income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261872" y="1920240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 true monthly income from cash-flow patterns — independent of what's declared on the form.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6263640" y="1481328"/>
            <a:ext cx="539496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5875">
            <a:solidFill>
              <a:srgbClr val="E4F1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64808" y="1737360"/>
            <a:ext cx="384048" cy="384048"/>
          </a:xfrm>
          <a:prstGeom prst="ellipse">
            <a:avLst/>
          </a:prstGeom>
          <a:solidFill>
            <a:srgbClr val="E4F1EC"/>
          </a:solidFill>
          <a:ln/>
        </p:spPr>
      </p:sp>
      <p:sp>
        <p:nvSpPr>
          <p:cNvPr id="12" name="Text 10"/>
          <p:cNvSpPr/>
          <p:nvPr/>
        </p:nvSpPr>
        <p:spPr>
          <a:xfrm>
            <a:off x="6464808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4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976872" y="16002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4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Lead Scoring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976872" y="1920240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0–100 conversion-probability score per customer, recomputed as new transactions arrive.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548640" y="2761488"/>
            <a:ext cx="539496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5875">
            <a:solidFill>
              <a:srgbClr val="E4F1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9808" y="3017520"/>
            <a:ext cx="384048" cy="384048"/>
          </a:xfrm>
          <a:prstGeom prst="ellipse">
            <a:avLst/>
          </a:prstGeom>
          <a:solidFill>
            <a:srgbClr val="E4F1EC"/>
          </a:solidFill>
          <a:ln/>
        </p:spPr>
      </p:sp>
      <p:sp>
        <p:nvSpPr>
          <p:cNvPr id="17" name="Text 15"/>
          <p:cNvSpPr/>
          <p:nvPr/>
        </p:nvSpPr>
        <p:spPr>
          <a:xfrm>
            <a:off x="749808" y="3017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4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61872" y="28803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4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Product-Fit Recommendation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261872" y="3200400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Auto-matches each lead to Personal / Home / Auto / Mortgage Loan based on behavioral fit.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6263640" y="2761488"/>
            <a:ext cx="539496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5875">
            <a:solidFill>
              <a:srgbClr val="E4F1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64808" y="3017520"/>
            <a:ext cx="384048" cy="384048"/>
          </a:xfrm>
          <a:prstGeom prst="ellipse">
            <a:avLst/>
          </a:prstGeom>
          <a:solidFill>
            <a:srgbClr val="E4F1EC"/>
          </a:solidFill>
          <a:ln/>
        </p:spPr>
      </p:sp>
      <p:sp>
        <p:nvSpPr>
          <p:cNvPr id="22" name="Text 20"/>
          <p:cNvSpPr/>
          <p:nvPr/>
        </p:nvSpPr>
        <p:spPr>
          <a:xfrm>
            <a:off x="6464808" y="3017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4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76872" y="28803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4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Explainable Scoring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976872" y="3200400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prediction ships with top feature contributions — audit-ready for underwriting.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548640" y="4041648"/>
            <a:ext cx="539496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5875">
            <a:solidFill>
              <a:srgbClr val="E4F1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9808" y="4297680"/>
            <a:ext cx="384048" cy="384048"/>
          </a:xfrm>
          <a:prstGeom prst="ellipse">
            <a:avLst/>
          </a:prstGeom>
          <a:solidFill>
            <a:srgbClr val="E4F1EC"/>
          </a:solidFill>
          <a:ln/>
        </p:spPr>
      </p:sp>
      <p:sp>
        <p:nvSpPr>
          <p:cNvPr id="27" name="Text 25"/>
          <p:cNvSpPr/>
          <p:nvPr/>
        </p:nvSpPr>
        <p:spPr>
          <a:xfrm>
            <a:off x="749808" y="4297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4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261872" y="41605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4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 Lead Queue Dashboard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1261872" y="4480560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Ranked, filterable, exportable list of high-quality leads for relationship managers.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6263640" y="4041648"/>
            <a:ext cx="539496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5875">
            <a:solidFill>
              <a:srgbClr val="E4F1E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64808" y="4297680"/>
            <a:ext cx="384048" cy="384048"/>
          </a:xfrm>
          <a:prstGeom prst="ellipse">
            <a:avLst/>
          </a:prstGeom>
          <a:solidFill>
            <a:srgbClr val="E4F1EC"/>
          </a:solidFill>
          <a:ln/>
        </p:spPr>
      </p:sp>
      <p:sp>
        <p:nvSpPr>
          <p:cNvPr id="32" name="Text 30"/>
          <p:cNvSpPr/>
          <p:nvPr/>
        </p:nvSpPr>
        <p:spPr>
          <a:xfrm>
            <a:off x="6464808" y="4297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4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976872" y="41605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4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Portfolio Analytics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6976872" y="4480560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City-wise, product-wise lead distribution and declared-vs-estimated income gap analysis.</a:t>
            </a:r>
            <a:endParaRPr lang="en-US" sz="1080" dirty="0"/>
          </a:p>
        </p:txBody>
      </p:sp>
      <p:sp>
        <p:nvSpPr>
          <p:cNvPr id="35" name="Shape 33"/>
          <p:cNvSpPr/>
          <p:nvPr/>
        </p:nvSpPr>
        <p:spPr>
          <a:xfrm>
            <a:off x="548640" y="5321808"/>
            <a:ext cx="539496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5875">
            <a:solidFill>
              <a:srgbClr val="E4F1E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49808" y="5577840"/>
            <a:ext cx="384048" cy="384048"/>
          </a:xfrm>
          <a:prstGeom prst="ellipse">
            <a:avLst/>
          </a:prstGeom>
          <a:solidFill>
            <a:srgbClr val="E4F1EC"/>
          </a:solidFill>
          <a:ln/>
        </p:spPr>
      </p:sp>
      <p:sp>
        <p:nvSpPr>
          <p:cNvPr id="37" name="Text 35"/>
          <p:cNvSpPr/>
          <p:nvPr/>
        </p:nvSpPr>
        <p:spPr>
          <a:xfrm>
            <a:off x="749808" y="5577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4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261872" y="54406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4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Configurable Risk Threshold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1261872" y="5760720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tunable cutoff lets the bank trade off lead volume vs. conversion quality.</a:t>
            </a:r>
            <a:endParaRPr lang="en-US" sz="1080" dirty="0"/>
          </a:p>
        </p:txBody>
      </p:sp>
      <p:sp>
        <p:nvSpPr>
          <p:cNvPr id="40" name="Shape 38"/>
          <p:cNvSpPr/>
          <p:nvPr/>
        </p:nvSpPr>
        <p:spPr>
          <a:xfrm>
            <a:off x="6263640" y="5321808"/>
            <a:ext cx="539496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5875">
            <a:solidFill>
              <a:srgbClr val="E4F1E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464808" y="5577840"/>
            <a:ext cx="384048" cy="384048"/>
          </a:xfrm>
          <a:prstGeom prst="ellipse">
            <a:avLst/>
          </a:prstGeom>
          <a:solidFill>
            <a:srgbClr val="E4F1EC"/>
          </a:solidFill>
          <a:ln/>
        </p:spPr>
      </p:sp>
      <p:sp>
        <p:nvSpPr>
          <p:cNvPr id="42" name="Text 40"/>
          <p:cNvSpPr/>
          <p:nvPr/>
        </p:nvSpPr>
        <p:spPr>
          <a:xfrm>
            <a:off x="6464808" y="5577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4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976872" y="54406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4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Sandbox-Ready Integration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6976872" y="5760720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plug directly into IDBI Bank's sandbox APIs and synthetic datasets.</a:t>
            </a:r>
            <a:endParaRPr lang="en-US" sz="1080" dirty="0"/>
          </a:p>
        </p:txBody>
      </p:sp>
      <p:sp>
        <p:nvSpPr>
          <p:cNvPr id="45" name="Text 43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IDBI Innovate 2026  |  Prospect Assist AI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0515600" y="652881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4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IDBI </a:t>
            </a:r>
            <a:pPr indent="0" marL="0">
              <a:buNone/>
            </a:pPr>
            <a:r>
              <a:rPr lang="en-US" sz="1500" b="1" dirty="0">
                <a:solidFill>
                  <a:srgbClr val="E873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Innovate 2026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7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4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 Flow Diagram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17830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9050">
            <a:solidFill>
              <a:srgbClr val="0D5C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24048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3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58368" y="2697480"/>
            <a:ext cx="1563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D4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Data Ingest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8368" y="3200400"/>
            <a:ext cx="1563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80" dirty="0">
                <a:solidFill>
                  <a:srgbClr val="5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credits, UPI, EMIs, bills, savings pulled from sandbox APIs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2313432" y="281178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7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468880" y="2331720"/>
            <a:ext cx="1783080" cy="1417320"/>
          </a:xfrm>
          <a:prstGeom prst="roundRect">
            <a:avLst>
              <a:gd name="adj" fmla="val 5806"/>
            </a:avLst>
          </a:prstGeom>
          <a:solidFill>
            <a:srgbClr val="0D4F44"/>
          </a:solidFill>
          <a:ln w="19050">
            <a:solidFill>
              <a:srgbClr val="0D4F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78608" y="24048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3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578608" y="2697480"/>
            <a:ext cx="1563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78608" y="3200400"/>
            <a:ext cx="1563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80" dirty="0">
                <a:solidFill>
                  <a:srgbClr val="E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25+ behavioral signals: regularity, DTI, spend mix, intent flags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4233672" y="281178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7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389120" y="2331720"/>
            <a:ext cx="1783080" cy="1417320"/>
          </a:xfrm>
          <a:prstGeom prst="roundRect">
            <a:avLst>
              <a:gd name="adj" fmla="val 5806"/>
            </a:avLst>
          </a:prstGeom>
          <a:solidFill>
            <a:srgbClr val="0D4F44"/>
          </a:solidFill>
          <a:ln w="19050">
            <a:solidFill>
              <a:srgbClr val="0D4F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98848" y="24048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3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498848" y="2697480"/>
            <a:ext cx="1563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Scoring Engine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498848" y="3200400"/>
            <a:ext cx="1563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80" dirty="0">
                <a:solidFill>
                  <a:srgbClr val="E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Estimator + Lead Scorer + Product Recommender run in parallel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6153912" y="281178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7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309360" y="2331720"/>
            <a:ext cx="1783080" cy="1417320"/>
          </a:xfrm>
          <a:prstGeom prst="roundRect">
            <a:avLst>
              <a:gd name="adj" fmla="val 5806"/>
            </a:avLst>
          </a:prstGeom>
          <a:solidFill>
            <a:srgbClr val="0D4F44"/>
          </a:solidFill>
          <a:ln w="19050">
            <a:solidFill>
              <a:srgbClr val="0D4F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19088" y="24048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3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19088" y="2697480"/>
            <a:ext cx="1563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Explainability Layer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19088" y="3200400"/>
            <a:ext cx="1563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80" dirty="0">
                <a:solidFill>
                  <a:srgbClr val="E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SHAP-style contribution generated for every score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8074152" y="281178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7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8229600" y="2331720"/>
            <a:ext cx="17830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9050">
            <a:solidFill>
              <a:srgbClr val="0D5C4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39328" y="24048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3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339328" y="2697480"/>
            <a:ext cx="1563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D4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 Dashboard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339328" y="3200400"/>
            <a:ext cx="1563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80" dirty="0">
                <a:solidFill>
                  <a:srgbClr val="5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Ranked, filterable lead queue delivered to relationship managers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9994392" y="281178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7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10149840" y="2331720"/>
            <a:ext cx="17830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9050">
            <a:solidFill>
              <a:srgbClr val="0D5C4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259568" y="24048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3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0259568" y="2697480"/>
            <a:ext cx="1563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D4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Outcome Feedback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259568" y="3200400"/>
            <a:ext cx="1563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80" dirty="0">
                <a:solidFill>
                  <a:srgbClr val="5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/ not-converted outcome flows back to retrain the model</a:t>
            </a:r>
            <a:endParaRPr lang="en-US" sz="880" dirty="0"/>
          </a:p>
        </p:txBody>
      </p:sp>
      <p:sp>
        <p:nvSpPr>
          <p:cNvPr id="34" name="Text 32"/>
          <p:cNvSpPr/>
          <p:nvPr/>
        </p:nvSpPr>
        <p:spPr>
          <a:xfrm>
            <a:off x="548640" y="41605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Loop: Outcome Feedback (6) continuously retrains the AI Scoring Engine (3), improving precision each cycle.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48640" y="484632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2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Use-case: Retail RM logs in every morning to a queue of the day's highest-probability, behavior-verified leads — instead of cold-calling a static branch list.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IDBI Innovate 2026  |  Prospect Assist AI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515600" y="652881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4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IDBI </a:t>
            </a:r>
            <a:pPr indent="0" marL="0">
              <a:buNone/>
            </a:pPr>
            <a:r>
              <a:rPr lang="en-US" sz="1500" b="1" dirty="0">
                <a:solidFill>
                  <a:srgbClr val="E873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Innovate 2026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7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CONCEPT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4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Wireframes of the Proposed Solution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64240" cy="4709160"/>
          </a:xfrm>
          <a:prstGeom prst="roundRect">
            <a:avLst>
              <a:gd name="adj" fmla="val 1942"/>
            </a:avLst>
          </a:prstGeom>
          <a:solidFill>
            <a:srgbClr val="FFFFFF"/>
          </a:solidFill>
          <a:ln w="19050">
            <a:solidFill>
              <a:srgbClr val="E4F1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solidFill>
            <a:srgbClr val="0D4F44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4813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Prospect Assist AI — RM Console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0" y="1481328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7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Queue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961120" y="1481328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Deep-Dive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149840" y="1481328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1920240"/>
            <a:ext cx="2194560" cy="4206240"/>
          </a:xfrm>
          <a:prstGeom prst="rect">
            <a:avLst/>
          </a:prstGeom>
          <a:solidFill>
            <a:srgbClr val="E4F1EC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057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D4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24231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31520" y="267004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D5C4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1089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31520" y="335584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D5C4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7947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Min. Income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31520" y="404164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D5C4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44805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Score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31520" y="472744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D5C4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926080" y="2057400"/>
            <a:ext cx="2011680" cy="777240"/>
          </a:xfrm>
          <a:prstGeom prst="roundRect">
            <a:avLst>
              <a:gd name="adj" fmla="val 9412"/>
            </a:avLst>
          </a:prstGeom>
          <a:solidFill>
            <a:srgbClr val="F7F9F8"/>
          </a:solidFill>
          <a:ln w="12700">
            <a:solidFill>
              <a:srgbClr val="E4F1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63240" y="21214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Prospects Scored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063240" y="2450592"/>
            <a:ext cx="1280160" cy="201168"/>
          </a:xfrm>
          <a:prstGeom prst="rect">
            <a:avLst/>
          </a:prstGeom>
          <a:solidFill>
            <a:srgbClr val="E4F1EC"/>
          </a:solidFill>
          <a:ln/>
        </p:spPr>
      </p:sp>
      <p:sp>
        <p:nvSpPr>
          <p:cNvPr id="24" name="Shape 22"/>
          <p:cNvSpPr/>
          <p:nvPr/>
        </p:nvSpPr>
        <p:spPr>
          <a:xfrm>
            <a:off x="5120640" y="2057400"/>
            <a:ext cx="2011680" cy="777240"/>
          </a:xfrm>
          <a:prstGeom prst="roundRect">
            <a:avLst>
              <a:gd name="adj" fmla="val 9412"/>
            </a:avLst>
          </a:prstGeom>
          <a:solidFill>
            <a:srgbClr val="F7F9F8"/>
          </a:solidFill>
          <a:ln w="12700">
            <a:solidFill>
              <a:srgbClr val="E4F1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57800" y="21214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High-Quality Leads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257800" y="2450592"/>
            <a:ext cx="1280160" cy="201168"/>
          </a:xfrm>
          <a:prstGeom prst="rect">
            <a:avLst/>
          </a:prstGeom>
          <a:solidFill>
            <a:srgbClr val="E4F1EC"/>
          </a:solidFill>
          <a:ln/>
        </p:spPr>
      </p:sp>
      <p:sp>
        <p:nvSpPr>
          <p:cNvPr id="27" name="Shape 25"/>
          <p:cNvSpPr/>
          <p:nvPr/>
        </p:nvSpPr>
        <p:spPr>
          <a:xfrm>
            <a:off x="7315200" y="2057400"/>
            <a:ext cx="2011680" cy="777240"/>
          </a:xfrm>
          <a:prstGeom prst="roundRect">
            <a:avLst>
              <a:gd name="adj" fmla="val 9412"/>
            </a:avLst>
          </a:prstGeom>
          <a:solidFill>
            <a:srgbClr val="F7F9F8"/>
          </a:solidFill>
          <a:ln w="12700">
            <a:solidFill>
              <a:srgbClr val="E4F1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52360" y="21214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Rate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7452360" y="2450592"/>
            <a:ext cx="1280160" cy="201168"/>
          </a:xfrm>
          <a:prstGeom prst="rect">
            <a:avLst/>
          </a:prstGeom>
          <a:solidFill>
            <a:srgbClr val="E4F1EC"/>
          </a:solidFill>
          <a:ln/>
        </p:spPr>
      </p:sp>
      <p:sp>
        <p:nvSpPr>
          <p:cNvPr id="30" name="Shape 28"/>
          <p:cNvSpPr/>
          <p:nvPr/>
        </p:nvSpPr>
        <p:spPr>
          <a:xfrm>
            <a:off x="9509760" y="2057400"/>
            <a:ext cx="2011680" cy="777240"/>
          </a:xfrm>
          <a:prstGeom prst="roundRect">
            <a:avLst>
              <a:gd name="adj" fmla="val 9412"/>
            </a:avLst>
          </a:prstGeom>
          <a:solidFill>
            <a:srgbClr val="F7F9F8"/>
          </a:solidFill>
          <a:ln w="12700">
            <a:solidFill>
              <a:srgbClr val="E4F1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46920" y="21214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Accuracy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9646920" y="2450592"/>
            <a:ext cx="1280160" cy="201168"/>
          </a:xfrm>
          <a:prstGeom prst="rect">
            <a:avLst/>
          </a:prstGeom>
          <a:solidFill>
            <a:srgbClr val="E4F1EC"/>
          </a:solidFill>
          <a:ln/>
        </p:spPr>
      </p:sp>
      <p:sp>
        <p:nvSpPr>
          <p:cNvPr id="33" name="Shape 31"/>
          <p:cNvSpPr/>
          <p:nvPr/>
        </p:nvSpPr>
        <p:spPr>
          <a:xfrm>
            <a:off x="2926080" y="3017520"/>
            <a:ext cx="7589520" cy="2926080"/>
          </a:xfrm>
          <a:prstGeom prst="roundRect">
            <a:avLst>
              <a:gd name="adj" fmla="val 2500"/>
            </a:avLst>
          </a:prstGeom>
          <a:solidFill>
            <a:srgbClr val="F7F9F8"/>
          </a:solidFill>
          <a:ln w="12700">
            <a:solidFill>
              <a:srgbClr val="E4F1E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108960" y="31272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4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Ranked Lead Queue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108960" y="3520440"/>
            <a:ext cx="722376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E4F1E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869680" y="3575304"/>
            <a:ext cx="1280160" cy="219456"/>
          </a:xfrm>
          <a:prstGeom prst="roundRect">
            <a:avLst>
              <a:gd name="adj" fmla="val 50000"/>
            </a:avLst>
          </a:prstGeom>
          <a:solidFill>
            <a:srgbClr val="0D5C4E"/>
          </a:solidFill>
          <a:ln/>
        </p:spPr>
      </p:sp>
      <p:sp>
        <p:nvSpPr>
          <p:cNvPr id="37" name="Shape 35"/>
          <p:cNvSpPr/>
          <p:nvPr/>
        </p:nvSpPr>
        <p:spPr>
          <a:xfrm>
            <a:off x="3108960" y="3977640"/>
            <a:ext cx="722376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E4F1E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869680" y="4032504"/>
            <a:ext cx="1280160" cy="219456"/>
          </a:xfrm>
          <a:prstGeom prst="roundRect">
            <a:avLst>
              <a:gd name="adj" fmla="val 50000"/>
            </a:avLst>
          </a:prstGeom>
          <a:solidFill>
            <a:srgbClr val="0D5C4E"/>
          </a:solidFill>
          <a:ln/>
        </p:spPr>
      </p:sp>
      <p:sp>
        <p:nvSpPr>
          <p:cNvPr id="39" name="Shape 37"/>
          <p:cNvSpPr/>
          <p:nvPr/>
        </p:nvSpPr>
        <p:spPr>
          <a:xfrm>
            <a:off x="3108960" y="4434840"/>
            <a:ext cx="722376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E4F1E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869680" y="4489704"/>
            <a:ext cx="1280160" cy="219456"/>
          </a:xfrm>
          <a:prstGeom prst="roundRect">
            <a:avLst>
              <a:gd name="adj" fmla="val 50000"/>
            </a:avLst>
          </a:prstGeom>
          <a:solidFill>
            <a:srgbClr val="FBE3D0"/>
          </a:solidFill>
          <a:ln/>
        </p:spPr>
      </p:sp>
      <p:sp>
        <p:nvSpPr>
          <p:cNvPr id="41" name="Shape 39"/>
          <p:cNvSpPr/>
          <p:nvPr/>
        </p:nvSpPr>
        <p:spPr>
          <a:xfrm>
            <a:off x="3108960" y="4892040"/>
            <a:ext cx="722376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E4F1E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869680" y="4946904"/>
            <a:ext cx="1280160" cy="219456"/>
          </a:xfrm>
          <a:prstGeom prst="roundRect">
            <a:avLst>
              <a:gd name="adj" fmla="val 50000"/>
            </a:avLst>
          </a:prstGeom>
          <a:solidFill>
            <a:srgbClr val="FBE3D0"/>
          </a:solidFill>
          <a:ln/>
        </p:spPr>
      </p:sp>
      <p:sp>
        <p:nvSpPr>
          <p:cNvPr id="43" name="Shape 41"/>
          <p:cNvSpPr/>
          <p:nvPr/>
        </p:nvSpPr>
        <p:spPr>
          <a:xfrm>
            <a:off x="3108960" y="5349240"/>
            <a:ext cx="722376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E4F1E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869680" y="5404104"/>
            <a:ext cx="1280160" cy="219456"/>
          </a:xfrm>
          <a:prstGeom prst="roundRect">
            <a:avLst>
              <a:gd name="adj" fmla="val 50000"/>
            </a:avLst>
          </a:prstGeom>
          <a:solidFill>
            <a:srgbClr val="FBE3D0"/>
          </a:solidFill>
          <a:ln/>
        </p:spPr>
      </p:sp>
      <p:sp>
        <p:nvSpPr>
          <p:cNvPr id="45" name="Text 43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IDBI Innovate 2026  |  Prospect Assist AI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0515600" y="652881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4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IDBI </a:t>
            </a:r>
            <a:pPr indent="0" marL="0">
              <a:buNone/>
            </a:pPr>
            <a:r>
              <a:rPr lang="en-US" sz="1500" b="1" dirty="0">
                <a:solidFill>
                  <a:srgbClr val="E873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Innovate 2026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7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4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Diagram of the Proposed Solution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508760" cy="777240"/>
          </a:xfrm>
          <a:prstGeom prst="rect">
            <a:avLst/>
          </a:prstGeom>
          <a:solidFill>
            <a:srgbClr val="5B7268"/>
          </a:solidFill>
          <a:ln/>
        </p:spPr>
      </p:sp>
      <p:sp>
        <p:nvSpPr>
          <p:cNvPr id="6" name="Text 4"/>
          <p:cNvSpPr/>
          <p:nvPr/>
        </p:nvSpPr>
        <p:spPr>
          <a:xfrm>
            <a:off x="621792" y="141732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194560" y="1490472"/>
            <a:ext cx="2388870" cy="630936"/>
          </a:xfrm>
          <a:prstGeom prst="roundRect">
            <a:avLst>
              <a:gd name="adj" fmla="val 10145"/>
            </a:avLst>
          </a:prstGeom>
          <a:solidFill>
            <a:srgbClr val="FFFFFF"/>
          </a:solidFill>
          <a:ln w="19050">
            <a:solidFill>
              <a:srgbClr val="5B726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67712" y="1490472"/>
            <a:ext cx="224256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A2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Banking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20590" y="1490472"/>
            <a:ext cx="2388870" cy="630936"/>
          </a:xfrm>
          <a:prstGeom prst="roundRect">
            <a:avLst>
              <a:gd name="adj" fmla="val 10145"/>
            </a:avLst>
          </a:prstGeom>
          <a:solidFill>
            <a:srgbClr val="FFFFFF"/>
          </a:solidFill>
          <a:ln w="19050">
            <a:solidFill>
              <a:srgbClr val="5B726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93742" y="1490472"/>
            <a:ext cx="224256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A2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Switch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246620" y="1490472"/>
            <a:ext cx="2388870" cy="630936"/>
          </a:xfrm>
          <a:prstGeom prst="roundRect">
            <a:avLst>
              <a:gd name="adj" fmla="val 10145"/>
            </a:avLst>
          </a:prstGeom>
          <a:solidFill>
            <a:srgbClr val="FFFFFF"/>
          </a:solidFill>
          <a:ln w="19050">
            <a:solidFill>
              <a:srgbClr val="5B726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9772" y="1490472"/>
            <a:ext cx="224256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A2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Bureau Feed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772650" y="1490472"/>
            <a:ext cx="2388870" cy="630936"/>
          </a:xfrm>
          <a:prstGeom prst="roundRect">
            <a:avLst>
              <a:gd name="adj" fmla="val 10145"/>
            </a:avLst>
          </a:prstGeom>
          <a:solidFill>
            <a:srgbClr val="FFFFFF"/>
          </a:solidFill>
          <a:ln w="19050">
            <a:solidFill>
              <a:srgbClr val="5B726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45802" y="1490472"/>
            <a:ext cx="224256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A2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0" y="21488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7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2359152"/>
            <a:ext cx="1508760" cy="777240"/>
          </a:xfrm>
          <a:prstGeom prst="rect">
            <a:avLst/>
          </a:prstGeom>
          <a:solidFill>
            <a:srgbClr val="0D5C4E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" y="2359152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&amp; FEATURE STORE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194560" y="2432304"/>
            <a:ext cx="4914900" cy="630936"/>
          </a:xfrm>
          <a:prstGeom prst="roundRect">
            <a:avLst>
              <a:gd name="adj" fmla="val 10145"/>
            </a:avLst>
          </a:prstGeom>
          <a:solidFill>
            <a:srgbClr val="FFFFFF"/>
          </a:solidFill>
          <a:ln w="19050">
            <a:solidFill>
              <a:srgbClr val="0D5C4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67712" y="2432304"/>
            <a:ext cx="476859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A2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Glue / Kinesis ETL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246620" y="2432304"/>
            <a:ext cx="4914900" cy="630936"/>
          </a:xfrm>
          <a:prstGeom prst="roundRect">
            <a:avLst>
              <a:gd name="adj" fmla="val 10145"/>
            </a:avLst>
          </a:prstGeom>
          <a:solidFill>
            <a:srgbClr val="FFFFFF"/>
          </a:solidFill>
          <a:ln w="19050">
            <a:solidFill>
              <a:srgbClr val="0D5C4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9772" y="2432304"/>
            <a:ext cx="476859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A2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SageMaker Feature Store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943600" y="309067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7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3300984"/>
            <a:ext cx="1508760" cy="868680"/>
          </a:xfrm>
          <a:prstGeom prst="rect">
            <a:avLst/>
          </a:prstGeom>
          <a:solidFill>
            <a:srgbClr val="0D4F44"/>
          </a:solidFill>
          <a:ln/>
        </p:spPr>
      </p:sp>
      <p:sp>
        <p:nvSpPr>
          <p:cNvPr id="24" name="Text 22"/>
          <p:cNvSpPr/>
          <p:nvPr/>
        </p:nvSpPr>
        <p:spPr>
          <a:xfrm>
            <a:off x="621792" y="3300984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 LAYER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194560" y="3374136"/>
            <a:ext cx="2388870" cy="722376"/>
          </a:xfrm>
          <a:prstGeom prst="roundRect">
            <a:avLst>
              <a:gd name="adj" fmla="val 8861"/>
            </a:avLst>
          </a:prstGeom>
          <a:solidFill>
            <a:srgbClr val="FFFFFF"/>
          </a:solidFill>
          <a:ln w="19050">
            <a:solidFill>
              <a:srgbClr val="0D4F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67712" y="3374136"/>
            <a:ext cx="224256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A2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Estimator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20590" y="3374136"/>
            <a:ext cx="2388870" cy="722376"/>
          </a:xfrm>
          <a:prstGeom prst="roundRect">
            <a:avLst>
              <a:gd name="adj" fmla="val 8861"/>
            </a:avLst>
          </a:prstGeom>
          <a:solidFill>
            <a:srgbClr val="FFFFFF"/>
          </a:solidFill>
          <a:ln w="19050">
            <a:solidFill>
              <a:srgbClr val="0D4F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93742" y="3374136"/>
            <a:ext cx="224256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A2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Scorer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246620" y="3374136"/>
            <a:ext cx="2388870" cy="722376"/>
          </a:xfrm>
          <a:prstGeom prst="roundRect">
            <a:avLst>
              <a:gd name="adj" fmla="val 8861"/>
            </a:avLst>
          </a:prstGeom>
          <a:solidFill>
            <a:srgbClr val="FFFFFF"/>
          </a:solidFill>
          <a:ln w="19050">
            <a:solidFill>
              <a:srgbClr val="0D4F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9772" y="3374136"/>
            <a:ext cx="224256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A2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Recommender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9772650" y="3374136"/>
            <a:ext cx="2388870" cy="722376"/>
          </a:xfrm>
          <a:prstGeom prst="roundRect">
            <a:avLst>
              <a:gd name="adj" fmla="val 8861"/>
            </a:avLst>
          </a:prstGeom>
          <a:solidFill>
            <a:srgbClr val="FFFFFF"/>
          </a:solidFill>
          <a:ln w="19050">
            <a:solidFill>
              <a:srgbClr val="0D4F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845802" y="3374136"/>
            <a:ext cx="224256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A2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Explainability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943600" y="412394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7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548640" y="4334256"/>
            <a:ext cx="1508760" cy="685800"/>
          </a:xfrm>
          <a:prstGeom prst="rect">
            <a:avLst/>
          </a:prstGeom>
          <a:solidFill>
            <a:srgbClr val="0D5C4E"/>
          </a:solidFill>
          <a:ln/>
        </p:spPr>
      </p:sp>
      <p:sp>
        <p:nvSpPr>
          <p:cNvPr id="35" name="Text 33"/>
          <p:cNvSpPr/>
          <p:nvPr/>
        </p:nvSpPr>
        <p:spPr>
          <a:xfrm>
            <a:off x="621792" y="4334256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194560" y="4407408"/>
            <a:ext cx="9966960" cy="539496"/>
          </a:xfrm>
          <a:prstGeom prst="roundRect">
            <a:avLst>
              <a:gd name="adj" fmla="val 11864"/>
            </a:avLst>
          </a:prstGeom>
          <a:solidFill>
            <a:srgbClr val="FFFFFF"/>
          </a:solidFill>
          <a:ln w="19050">
            <a:solidFill>
              <a:srgbClr val="0D5C4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267712" y="4407408"/>
            <a:ext cx="982065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A2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on ECS Fargate / Lambda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943600" y="4974336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7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548640" y="5184648"/>
            <a:ext cx="1508760" cy="777240"/>
          </a:xfrm>
          <a:prstGeom prst="rect">
            <a:avLst/>
          </a:prstGeom>
          <a:solidFill>
            <a:srgbClr val="E8732C"/>
          </a:solidFill>
          <a:ln/>
        </p:spPr>
      </p:sp>
      <p:sp>
        <p:nvSpPr>
          <p:cNvPr id="40" name="Text 38"/>
          <p:cNvSpPr/>
          <p:nvPr/>
        </p:nvSpPr>
        <p:spPr>
          <a:xfrm>
            <a:off x="621792" y="5184648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194560" y="5257800"/>
            <a:ext cx="4914900" cy="630936"/>
          </a:xfrm>
          <a:prstGeom prst="roundRect">
            <a:avLst>
              <a:gd name="adj" fmla="val 10145"/>
            </a:avLst>
          </a:prstGeom>
          <a:solidFill>
            <a:srgbClr val="FFFFFF"/>
          </a:solidFill>
          <a:ln w="19050">
            <a:solidFill>
              <a:srgbClr val="E8732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267712" y="5257800"/>
            <a:ext cx="476859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A2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Dashboard (Streamlit/React)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246620" y="5257800"/>
            <a:ext cx="4914900" cy="630936"/>
          </a:xfrm>
          <a:prstGeom prst="roundRect">
            <a:avLst>
              <a:gd name="adj" fmla="val 10145"/>
            </a:avLst>
          </a:prstGeom>
          <a:solidFill>
            <a:srgbClr val="FFFFFF"/>
          </a:solidFill>
          <a:ln w="19050">
            <a:solidFill>
              <a:srgbClr val="E8732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319772" y="5257800"/>
            <a:ext cx="476859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A2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Lead Integration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loop: RM-confirmed outcomes (converted / not) flow back into SageMaker Pipelines to retrain all three models on a rolling schedule.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IDBI Innovate 2026  |  Prospect Assist AI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0515600" y="652881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4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IDBI </a:t>
            </a:r>
            <a:pPr indent="0" marL="0">
              <a:buNone/>
            </a:pPr>
            <a:r>
              <a:rPr lang="en-US" sz="1500" b="1" dirty="0">
                <a:solidFill>
                  <a:srgbClr val="E873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Innovate 2026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7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4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Used in the Solution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2578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9050">
            <a:solidFill>
              <a:srgbClr val="E4F1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463040"/>
            <a:ext cx="109728" cy="2194560"/>
          </a:xfrm>
          <a:prstGeom prst="rect">
            <a:avLst/>
          </a:prstGeom>
          <a:solidFill>
            <a:srgbClr val="0D5C4E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6459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4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ML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68680" y="214884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E4F1EC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1488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4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560320" y="214884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E4F1EC"/>
          </a:solidFill>
          <a:ln/>
        </p:spPr>
      </p:sp>
      <p:sp>
        <p:nvSpPr>
          <p:cNvPr id="11" name="Text 9"/>
          <p:cNvSpPr/>
          <p:nvPr/>
        </p:nvSpPr>
        <p:spPr>
          <a:xfrm>
            <a:off x="2560320" y="21488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4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/ NumPy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251960" y="214884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E4F1EC"/>
          </a:solidFill>
          <a:ln/>
        </p:spPr>
      </p:sp>
      <p:sp>
        <p:nvSpPr>
          <p:cNvPr id="13" name="Text 11"/>
          <p:cNvSpPr/>
          <p:nvPr/>
        </p:nvSpPr>
        <p:spPr>
          <a:xfrm>
            <a:off x="4251960" y="21488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4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68680" y="2715768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E4F1EC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271576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4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560320" y="2715768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E4F1EC"/>
          </a:solidFill>
          <a:ln/>
        </p:spPr>
      </p:sp>
      <p:sp>
        <p:nvSpPr>
          <p:cNvPr id="17" name="Text 15"/>
          <p:cNvSpPr/>
          <p:nvPr/>
        </p:nvSpPr>
        <p:spPr>
          <a:xfrm>
            <a:off x="2560320" y="271576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4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126480" y="1463040"/>
            <a:ext cx="52578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9050">
            <a:solidFill>
              <a:srgbClr val="E4F1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26480" y="1463040"/>
            <a:ext cx="109728" cy="2194560"/>
          </a:xfrm>
          <a:prstGeom prst="rect">
            <a:avLst/>
          </a:prstGeom>
          <a:solidFill>
            <a:srgbClr val="0D5C4E"/>
          </a:solidFill>
          <a:ln/>
        </p:spPr>
      </p:sp>
      <p:sp>
        <p:nvSpPr>
          <p:cNvPr id="20" name="Text 18"/>
          <p:cNvSpPr/>
          <p:nvPr/>
        </p:nvSpPr>
        <p:spPr>
          <a:xfrm>
            <a:off x="6446520" y="16459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4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Serving &amp; App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446520" y="214884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E4F1EC"/>
          </a:solidFill>
          <a:ln/>
        </p:spPr>
      </p:sp>
      <p:sp>
        <p:nvSpPr>
          <p:cNvPr id="22" name="Text 20"/>
          <p:cNvSpPr/>
          <p:nvPr/>
        </p:nvSpPr>
        <p:spPr>
          <a:xfrm>
            <a:off x="6446520" y="21488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4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138160" y="214884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E4F1EC"/>
          </a:solidFill>
          <a:ln/>
        </p:spPr>
      </p:sp>
      <p:sp>
        <p:nvSpPr>
          <p:cNvPr id="24" name="Text 22"/>
          <p:cNvSpPr/>
          <p:nvPr/>
        </p:nvSpPr>
        <p:spPr>
          <a:xfrm>
            <a:off x="8138160" y="21488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4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829800" y="214884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E4F1EC"/>
          </a:solidFill>
          <a:ln/>
        </p:spPr>
      </p:sp>
      <p:sp>
        <p:nvSpPr>
          <p:cNvPr id="26" name="Text 24"/>
          <p:cNvSpPr/>
          <p:nvPr/>
        </p:nvSpPr>
        <p:spPr>
          <a:xfrm>
            <a:off x="9829800" y="21488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4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446520" y="2715768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E4F1EC"/>
          </a:solidFill>
          <a:ln/>
        </p:spPr>
      </p:sp>
      <p:sp>
        <p:nvSpPr>
          <p:cNvPr id="28" name="Text 26"/>
          <p:cNvSpPr/>
          <p:nvPr/>
        </p:nvSpPr>
        <p:spPr>
          <a:xfrm>
            <a:off x="6446520" y="271576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4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Joblib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48640" y="3886200"/>
            <a:ext cx="52578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9050">
            <a:solidFill>
              <a:srgbClr val="E4F1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3886200"/>
            <a:ext cx="109728" cy="2194560"/>
          </a:xfrm>
          <a:prstGeom prst="rect">
            <a:avLst/>
          </a:prstGeom>
          <a:solidFill>
            <a:srgbClr val="0D5C4E"/>
          </a:solidFill>
          <a:ln/>
        </p:spPr>
      </p:sp>
      <p:sp>
        <p:nvSpPr>
          <p:cNvPr id="31" name="Text 29"/>
          <p:cNvSpPr/>
          <p:nvPr/>
        </p:nvSpPr>
        <p:spPr>
          <a:xfrm>
            <a:off x="868680" y="4069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4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&amp; Infra (production)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868680" y="457200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E4F1EC"/>
          </a:solidFill>
          <a:ln/>
        </p:spPr>
      </p:sp>
      <p:sp>
        <p:nvSpPr>
          <p:cNvPr id="33" name="Text 31"/>
          <p:cNvSpPr/>
          <p:nvPr/>
        </p:nvSpPr>
        <p:spPr>
          <a:xfrm>
            <a:off x="868680" y="45720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4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SageMaker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560320" y="457200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E4F1EC"/>
          </a:solidFill>
          <a:ln/>
        </p:spPr>
      </p:sp>
      <p:sp>
        <p:nvSpPr>
          <p:cNvPr id="35" name="Text 33"/>
          <p:cNvSpPr/>
          <p:nvPr/>
        </p:nvSpPr>
        <p:spPr>
          <a:xfrm>
            <a:off x="2560320" y="45720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4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Lambda / ECS Fargate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251960" y="457200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E4F1EC"/>
          </a:solidFill>
          <a:ln/>
        </p:spPr>
      </p:sp>
      <p:sp>
        <p:nvSpPr>
          <p:cNvPr id="37" name="Text 35"/>
          <p:cNvSpPr/>
          <p:nvPr/>
        </p:nvSpPr>
        <p:spPr>
          <a:xfrm>
            <a:off x="4251960" y="45720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4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Glue / Kinesis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868680" y="5138928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E4F1EC"/>
          </a:solidFill>
          <a:ln/>
        </p:spPr>
      </p:sp>
      <p:sp>
        <p:nvSpPr>
          <p:cNvPr id="39" name="Text 37"/>
          <p:cNvSpPr/>
          <p:nvPr/>
        </p:nvSpPr>
        <p:spPr>
          <a:xfrm>
            <a:off x="868680" y="513892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4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S3 / Redshift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126480" y="3886200"/>
            <a:ext cx="52578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9050">
            <a:solidFill>
              <a:srgbClr val="E4F1E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126480" y="3886200"/>
            <a:ext cx="109728" cy="2194560"/>
          </a:xfrm>
          <a:prstGeom prst="rect">
            <a:avLst/>
          </a:prstGeom>
          <a:solidFill>
            <a:srgbClr val="0D5C4E"/>
          </a:solidFill>
          <a:ln/>
        </p:spPr>
      </p:sp>
      <p:sp>
        <p:nvSpPr>
          <p:cNvPr id="42" name="Text 40"/>
          <p:cNvSpPr/>
          <p:nvPr/>
        </p:nvSpPr>
        <p:spPr>
          <a:xfrm>
            <a:off x="6446520" y="4069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4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 Integration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6446520" y="457200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E4F1EC"/>
          </a:solidFill>
          <a:ln/>
        </p:spPr>
      </p:sp>
      <p:sp>
        <p:nvSpPr>
          <p:cNvPr id="44" name="Text 42"/>
          <p:cNvSpPr/>
          <p:nvPr/>
        </p:nvSpPr>
        <p:spPr>
          <a:xfrm>
            <a:off x="6446520" y="45720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4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IDBI Sandbox APIs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8138160" y="457200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E4F1EC"/>
          </a:solidFill>
          <a:ln/>
        </p:spPr>
      </p:sp>
      <p:sp>
        <p:nvSpPr>
          <p:cNvPr id="46" name="Text 44"/>
          <p:cNvSpPr/>
          <p:nvPr/>
        </p:nvSpPr>
        <p:spPr>
          <a:xfrm>
            <a:off x="8138160" y="45720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4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Banking Datasets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9829800" y="457200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E4F1EC"/>
          </a:solidFill>
          <a:ln/>
        </p:spPr>
      </p:sp>
      <p:sp>
        <p:nvSpPr>
          <p:cNvPr id="48" name="Text 46"/>
          <p:cNvSpPr/>
          <p:nvPr/>
        </p:nvSpPr>
        <p:spPr>
          <a:xfrm>
            <a:off x="9829800" y="45720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4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/ Lead Management System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IDBI Innovate 2026  |  Prospect Assist AI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0515600" y="652881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4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IDBI </a:t>
            </a:r>
            <a:pPr indent="0" marL="0">
              <a:buNone/>
            </a:pPr>
            <a:r>
              <a:rPr lang="en-US" sz="1500" b="1" dirty="0">
                <a:solidFill>
                  <a:srgbClr val="E873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Innovate 2026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7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4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Estimated Implementation Cost (Optional)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502920"/>
          </a:xfrm>
          <a:prstGeom prst="roundRect">
            <a:avLst>
              <a:gd name="adj" fmla="val 10909"/>
            </a:avLst>
          </a:prstGeom>
          <a:solidFill>
            <a:srgbClr val="0D4F44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069080" y="155448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012680" y="15544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Est. Cost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148840"/>
            <a:ext cx="110642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4F1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14884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4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Sandbox PoC (3 months)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977640" y="2148840"/>
            <a:ext cx="5394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2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SageMaker + Lambda/Fargate (dev-tier), 2 ML engineers, 1 designer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464040" y="2148840"/>
            <a:ext cx="1965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3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₹9 – 12 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108960"/>
            <a:ext cx="11064240" cy="960120"/>
          </a:xfrm>
          <a:prstGeom prst="rect">
            <a:avLst/>
          </a:prstGeom>
          <a:solidFill>
            <a:srgbClr val="F7F9F8"/>
          </a:solidFill>
          <a:ln w="9525">
            <a:solidFill>
              <a:srgbClr val="E4F1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10896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4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 at 2–3 branches (6 months)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977640" y="3108960"/>
            <a:ext cx="5394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2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retraining pipeline, CRM integration, monitoring &amp; MLOps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464040" y="3108960"/>
            <a:ext cx="1965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3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₹18 – 25 L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069080"/>
            <a:ext cx="110642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4F1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06908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4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Bank-wide rollout (annual run-rate)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977640" y="4069080"/>
            <a:ext cx="5394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2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AWS infra, compliance/audit tooling, ongoing model ops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464040" y="4069080"/>
            <a:ext cx="1965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3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₹35 – 50 L / yr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52578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Indicative, hackathon-stage estimate for planning discussion only — final costing depends on IDBI Bank's sandbox infra terms and data-access scope.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IDBI Innovate 2026  |  Prospect Assist AI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515600" y="652881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4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IDBI </a:t>
            </a:r>
            <a:pPr indent="0" marL="0">
              <a:buNone/>
            </a:pPr>
            <a:r>
              <a:rPr lang="en-US" sz="1500" b="1" dirty="0">
                <a:solidFill>
                  <a:srgbClr val="E873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Innovate 2026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7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4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Snapshots of the Prototype</a:t>
            </a:r>
            <a:endParaRPr lang="en-US" sz="3000" dirty="0"/>
          </a:p>
        </p:txBody>
      </p:sp>
      <p:pic>
        <p:nvPicPr>
          <p:cNvPr id="5" name="Image 0" descr="/home/claude/prospect-assist-ai/shots/tab1_queu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417320"/>
            <a:ext cx="6995160" cy="4434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870448"/>
            <a:ext cx="6995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4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Ranked Lead Queue</a:t>
            </a:r>
            <a:endParaRPr lang="en-US" sz="1200" dirty="0"/>
          </a:p>
        </p:txBody>
      </p:sp>
      <p:pic>
        <p:nvPicPr>
          <p:cNvPr id="7" name="Image 1" descr="/home/claude/prospect-assist-ai/shots/tab2_deepdiv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680960" y="1417320"/>
            <a:ext cx="3977640" cy="21031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680960" y="353872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4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Deep-Dive &amp; Explainability</a:t>
            </a:r>
            <a:endParaRPr lang="en-US" sz="1050" dirty="0"/>
          </a:p>
        </p:txBody>
      </p:sp>
      <p:pic>
        <p:nvPicPr>
          <p:cNvPr id="9" name="Image 2" descr="/home/claude/prospect-assist-ai/shots/tab3_insights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680960" y="3931920"/>
            <a:ext cx="3977640" cy="19202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680960" y="587044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4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Insights</a:t>
            </a:r>
            <a:endParaRPr lang="en-US" sz="1050" dirty="0"/>
          </a:p>
        </p:txBody>
      </p:sp>
      <p:sp>
        <p:nvSpPr>
          <p:cNvPr id="11" name="Text 6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IDBI Innovate 2026  |  Prospect Assist AI</a:t>
            </a:r>
            <a:endParaRPr lang="en-US" sz="900" dirty="0"/>
          </a:p>
        </p:txBody>
      </p:sp>
      <p:sp>
        <p:nvSpPr>
          <p:cNvPr id="12" name="Text 7"/>
          <p:cNvSpPr/>
          <p:nvPr/>
        </p:nvSpPr>
        <p:spPr>
          <a:xfrm>
            <a:off x="10515600" y="652881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4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IDBI </a:t>
            </a:r>
            <a:pPr indent="0" marL="0">
              <a:buNone/>
            </a:pPr>
            <a:r>
              <a:rPr lang="en-US" sz="1500" b="1" dirty="0">
                <a:solidFill>
                  <a:srgbClr val="E873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Innovate 2026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7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RESULTS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4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Prototype Performance Report / Benchmarking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9050">
            <a:solidFill>
              <a:srgbClr val="E4F1EC"/>
            </a:solidFill>
            <a:prstDash val="solid"/>
          </a:ln>
          <a:effectLst>
            <a:outerShdw sx="100000" sy="100000" kx="0" ky="0" algn="bl" rotWithShape="0" blurRad="76200" dist="25400" dir="5400000">
              <a:srgbClr val="223229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6916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73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55.36%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77240" y="240487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D4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Conversion rate among AI-flagged leads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289864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5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30% target — nearly 2x lift over base rate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4343400" y="150876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9050">
            <a:solidFill>
              <a:srgbClr val="E4F1EC"/>
            </a:solidFill>
            <a:prstDash val="solid"/>
          </a:ln>
          <a:effectLst>
            <a:outerShdw sx="100000" sy="100000" kx="0" ky="0" algn="bl" rotWithShape="0" blurRad="76200" dist="25400" dir="5400000">
              <a:srgbClr val="223229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0" y="16916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5C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0.8767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572000" y="240487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D4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 Scorer AUC-ROC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0" y="289864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5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held-out synthetic test data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8138160" y="150876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9050">
            <a:solidFill>
              <a:srgbClr val="E4F1EC"/>
            </a:solidFill>
            <a:prstDash val="solid"/>
          </a:ln>
          <a:effectLst>
            <a:outerShdw sx="100000" sy="100000" kx="0" ky="0" algn="bl" rotWithShape="0" blurRad="76200" dist="25400" dir="5400000">
              <a:srgbClr val="223229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366760" y="16916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5C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61.58%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8366760" y="240487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D4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accurate than declared income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366760" y="289864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5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₹5,789 vs ₹15,066 for the declared-income baseline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548640" y="384048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9050">
            <a:solidFill>
              <a:srgbClr val="E4F1EC"/>
            </a:solidFill>
            <a:prstDash val="solid"/>
          </a:ln>
          <a:effectLst>
            <a:outerShdw sx="100000" sy="100000" kx="0" ky="0" algn="bl" rotWithShape="0" blurRad="76200" dist="25400" dir="5400000">
              <a:srgbClr val="223229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77240" y="402336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73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94.5%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777240" y="473659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D4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Income variance explained (R²)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77240" y="523036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5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behavior-only income estimator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4343400" y="384048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9050">
            <a:solidFill>
              <a:srgbClr val="E4F1EC"/>
            </a:solidFill>
            <a:prstDash val="solid"/>
          </a:ln>
          <a:effectLst>
            <a:outerShdw sx="100000" sy="100000" kx="0" ky="0" algn="bl" rotWithShape="0" blurRad="76200" dist="25400" dir="5400000">
              <a:srgbClr val="223229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72000" y="402336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5C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98.8%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4572000" y="473659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D4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Product-recommendation accuracy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0" y="523036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5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/ Home / Auto / Mortgage classification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8138160" y="384048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9050">
            <a:solidFill>
              <a:srgbClr val="E4F1EC"/>
            </a:solidFill>
            <a:prstDash val="solid"/>
          </a:ln>
          <a:effectLst>
            <a:outerShdw sx="100000" sy="100000" kx="0" ky="0" algn="bl" rotWithShape="0" blurRad="76200" dist="25400" dir="5400000">
              <a:srgbClr val="223229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366760" y="402336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73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44.8%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8366760" y="473659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D4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 base flagged as high-quality leads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366760" y="523036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5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enough pipeline for RM teams to act on daily</a:t>
            </a:r>
            <a:endParaRPr lang="en-US" sz="980" dirty="0"/>
          </a:p>
        </p:txBody>
      </p:sp>
      <p:sp>
        <p:nvSpPr>
          <p:cNvPr id="29" name="Text 27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IDBI Innovate 2026  |  Prospect Assist AI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515600" y="652881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4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IDBI </a:t>
            </a:r>
            <a:pPr indent="0" marL="0">
              <a:buNone/>
            </a:pPr>
            <a:r>
              <a:rPr lang="en-US" sz="1500" b="1" dirty="0">
                <a:solidFill>
                  <a:srgbClr val="E873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Innovate 2026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7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4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Additional Details / Future Development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36192"/>
            <a:ext cx="365760" cy="365760"/>
          </a:xfrm>
          <a:prstGeom prst="ellipse">
            <a:avLst/>
          </a:prstGeom>
          <a:solidFill>
            <a:srgbClr val="0D5C4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5361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148132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4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Bureau + GST data fusion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051560" y="1865376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1A2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 bureau pulls and GST returns (for self-employed/MSME) with transaction features for even sharper income estimation.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1536192"/>
            <a:ext cx="365760" cy="365760"/>
          </a:xfrm>
          <a:prstGeom prst="ellipse">
            <a:avLst/>
          </a:prstGeom>
          <a:solidFill>
            <a:srgbClr val="E8732C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0" y="15361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629400" y="148132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4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scoring API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629400" y="1865376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1A2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from batch scoring to an event-driven API that re-scores a customer the moment a qualifying transaction lands.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136392"/>
            <a:ext cx="365760" cy="365760"/>
          </a:xfrm>
          <a:prstGeom prst="ellipse">
            <a:avLst/>
          </a:prstGeom>
          <a:solidFill>
            <a:srgbClr val="0D5C4E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1363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308152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4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Active-learning feedback loop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051560" y="3465576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1A2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RM-confirmed conversion outcomes automatically retrain the models weekly, closing the loop shown in the architecture.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3136392"/>
            <a:ext cx="365760" cy="365760"/>
          </a:xfrm>
          <a:prstGeom prst="ellipse">
            <a:avLst/>
          </a:prstGeom>
          <a:solidFill>
            <a:srgbClr val="E8732C"/>
          </a:solidFill>
          <a:ln/>
        </p:spPr>
      </p:sp>
      <p:sp>
        <p:nvSpPr>
          <p:cNvPr id="18" name="Text 16"/>
          <p:cNvSpPr/>
          <p:nvPr/>
        </p:nvSpPr>
        <p:spPr>
          <a:xfrm>
            <a:off x="6126480" y="31363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629400" y="308152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4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Multi-lingual RM assistant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629400" y="3465576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1A2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conversational layer so RMs can ask "who are my top 10 home-loan leads in Pune this week" in natural language.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736592"/>
            <a:ext cx="365760" cy="365760"/>
          </a:xfrm>
          <a:prstGeom prst="ellipse">
            <a:avLst/>
          </a:prstGeom>
          <a:solidFill>
            <a:srgbClr val="0D5C4E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7365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51560" y="468172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4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Fairness &amp; bias monitoring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051560" y="5065776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1A2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fairness audits across gender, geography, and employment type before any production rollout.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26480" y="4736592"/>
            <a:ext cx="365760" cy="365760"/>
          </a:xfrm>
          <a:prstGeom prst="ellipse">
            <a:avLst/>
          </a:prstGeom>
          <a:solidFill>
            <a:srgbClr val="E8732C"/>
          </a:solidFill>
          <a:ln/>
        </p:spPr>
      </p:sp>
      <p:sp>
        <p:nvSpPr>
          <p:cNvPr id="26" name="Text 24"/>
          <p:cNvSpPr/>
          <p:nvPr/>
        </p:nvSpPr>
        <p:spPr>
          <a:xfrm>
            <a:off x="6126480" y="47365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629400" y="468172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4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Early-warning cross-sell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629400" y="5065776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1A2E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same behavioral engine to flag credit-card, FD, and insurance cross-sell opportunities.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IDBI Innovate 2026  |  Prospect Assist AI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515600" y="652881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4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IDBI </a:t>
            </a:r>
            <a:pPr indent="0" marL="0">
              <a:buNone/>
            </a:pPr>
            <a:r>
              <a:rPr lang="en-US" sz="1500" b="1" dirty="0">
                <a:solidFill>
                  <a:srgbClr val="E873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Innovate 2026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7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4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Provide Links To Your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9050">
            <a:solidFill>
              <a:srgbClr val="E4F1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920240"/>
            <a:ext cx="502920" cy="502920"/>
          </a:xfrm>
          <a:prstGeom prst="ellipse">
            <a:avLst/>
          </a:prstGeom>
          <a:solidFill>
            <a:srgbClr val="0D5C4E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17830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D4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Public Repository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554480" y="217627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paste your public repo URL here ]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9050">
            <a:solidFill>
              <a:srgbClr val="E4F1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246120"/>
            <a:ext cx="502920" cy="502920"/>
          </a:xfrm>
          <a:prstGeom prst="ellipse">
            <a:avLst/>
          </a:prstGeom>
          <a:solidFill>
            <a:srgbClr val="0D5C4E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246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554480" y="3108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D4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Video Link (3 Minutes)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554480" y="350215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paste your unlisted/public video URL here ]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29768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9050">
            <a:solidFill>
              <a:srgbClr val="E4F1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4572000"/>
            <a:ext cx="502920" cy="502920"/>
          </a:xfrm>
          <a:prstGeom prst="ellipse">
            <a:avLst/>
          </a:prstGeom>
          <a:solidFill>
            <a:srgbClr val="0D5C4E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572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54480" y="4434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D4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Product Link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554480" y="482803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paste your deployed Streamlit Cloud URL here ]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IDBI Innovate 2026  |  Prospect Assist AI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515600" y="652881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4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486400" cy="5486400"/>
          </a:xfrm>
          <a:prstGeom prst="ellipse">
            <a:avLst/>
          </a:prstGeom>
          <a:solidFill>
            <a:srgbClr val="0D5C4E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-1828800"/>
            <a:ext cx="5029200" cy="5029200"/>
          </a:xfrm>
          <a:prstGeom prst="ellipse">
            <a:avLst/>
          </a:prstGeom>
          <a:solidFill>
            <a:srgbClr val="E8732C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2651760"/>
            <a:ext cx="121889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0" y="370332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7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 Assist AI  —  Team [Your Team Name]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0" y="416052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IDBI Innovate 2026  •  Build. Integrate. Transform.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2026-07-11T05:48:48Z</dcterms:created>
  <dcterms:modified xsi:type="dcterms:W3CDTF">2026-07-11T05:48:48Z</dcterms:modified>
</cp:coreProperties>
</file>